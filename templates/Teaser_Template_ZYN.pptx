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angle">
            <a:avLst/>
          </a:prstGeom>
          <a:solidFill>
            <a:srgbClr val="8B91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</a:t>
            </a:r>
            <a:pPr algn="ctr" indent="0" marL="0">
              <a:buNone/>
            </a:pPr>
            <a:r>
              <a:rPr lang="en-US" sz="44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0"/>
          </a:xfrm>
          <a:prstGeom prst="line">
            <a:avLst/>
          </a:prstGeom>
          <a:noFill/>
          <a:ln w="12700">
            <a:solidFill>
              <a:srgbClr val="8B91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[TIPO DE INSTRUMENTO]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[Nome da Operação / Tomador]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Março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— DISTRIBUIÇÃO RESTRITA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angle">
            <a:avLst/>
          </a:prstGeom>
          <a:solidFill>
            <a:srgbClr val="1A25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CAPITAL ©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</a:t>
            </a:r>
            <a:pPr indent="0" marL="0">
              <a:buNone/>
            </a:pPr>
            <a:r>
              <a:rPr lang="en-US" sz="12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8B91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Março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CAPITAL ©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Executivo &amp; Termos Indicativos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307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05840" y="1554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[XX] MM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14600" y="12344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14600" y="12344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4630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63240" y="1307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TAXA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063240" y="1554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CDI + [X]%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0" y="12344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0" y="12344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630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1307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PRAZO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120640" y="1554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[XX] meses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629400" y="12344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629400" y="12344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46304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78040" y="1307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178040" y="1554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[XX]%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CAMPO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DETALHE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Tomador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[Razão Social / Grupo]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Instrumento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[CRA / CRI / NC / FIDC / S&amp;LB]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Volume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[XX.XXX.XXX,00]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Indexador / Spread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[CDI + X% a.a. / IPCA + X% a.a.]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Prazo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 meses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Amortização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[SAC / Bullet / Price]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Carência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[X] meses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Garantias Principais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[Alienação fiduciária, cessão, aval, etc.]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Destinação dos Recursos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[CAPEX, capital de giro, refinanciamento, etc.]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Rating Preliminar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[Se aplicável]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</a:t>
            </a:r>
            <a:pPr indent="0" marL="0">
              <a:buNone/>
            </a:pPr>
            <a:r>
              <a:rPr lang="en-US" sz="12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8B91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Março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CAPITAL ©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 da Empresa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886200" cy="3200400"/>
          </a:xfrm>
          <a:prstGeom prst="rectangle">
            <a:avLst/>
          </a:prstGeom>
          <a:solidFill>
            <a:srgbClr val="F4F5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54864" cy="320040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25880"/>
            <a:ext cx="3474720" cy="3017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[NOME DO GRUPO / EMPRESA]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Fundação: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[Ano]
</a:t>
            </a:r>
            <a:endParaRPr lang="en-US" sz="14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Sede: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[Cidade/UF]
</a:t>
            </a:r>
            <a:endParaRPr lang="en-US" sz="14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[Agronegócio / Imobiliário / Industrial / etc.]
</a:t>
            </a:r>
            <a:endParaRPr lang="en-US" sz="14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Sócios / Gestão: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[Nomes e cargos principais]
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Descrição:
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[Breve histórico da empresa, atividades principais, diferenciais competitivos, principais clientes/offtakers, e posicionamento de mercado. 3-4 linhas.]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Números-Chave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6916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2024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12080" y="1764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FATURAMENTO ANUAL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20116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[XXX] MM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75120" y="16916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75120" y="16916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202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1764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EBITDA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223760" y="20116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[XX] MM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63440" y="26060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63440" y="26060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8346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12080" y="26791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COLABORADORES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212080" y="2926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[XXX]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675120" y="26060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675120" y="26060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83464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23760" y="26791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CAPACIDADE / ÁREA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7223760" y="2926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[XX.XXX ha / m² / ton]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663440" y="35204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663440" y="35204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74904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12080" y="3593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UNIDADES / PROPRIEDADES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5212080" y="3840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[X] unidades em [UFs]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675120" y="3520440"/>
            <a:ext cx="1874520" cy="731520"/>
          </a:xfrm>
          <a:prstGeom prst="rectangle">
            <a:avLst/>
          </a:prstGeom>
          <a:solidFill>
            <a:srgbClr val="FFFFFF"/>
          </a:solidFill>
          <a:ln w="6350">
            <a:solidFill>
              <a:srgbClr val="EDF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675120" y="3520440"/>
            <a:ext cx="54864" cy="73152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74904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223760" y="3593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CLIENTES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7223760" y="3840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[Cliente A, B, C]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</a:t>
            </a:r>
            <a:pPr indent="0" marL="0">
              <a:buNone/>
            </a:pPr>
            <a:r>
              <a:rPr lang="en-US" sz="12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8B91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Março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CAPITAL ©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da Operação &amp; Indicadores Financeiros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da Operação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600200"/>
            <a:ext cx="3200400" cy="548640"/>
          </a:xfrm>
          <a:prstGeom prst="rectangle">
            <a:avLst/>
          </a:prstGeom>
          <a:solidFill>
            <a:srgbClr val="FFFFFF"/>
          </a:solidFill>
          <a:ln w="10160">
            <a:solidFill>
              <a:srgbClr val="22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[TOMADOR / CEDENTE]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423160"/>
            <a:ext cx="3200400" cy="548640"/>
          </a:xfrm>
          <a:prstGeom prst="rectangle">
            <a:avLst/>
          </a:prstGeom>
          <a:solidFill>
            <a:srgbClr val="FFFFFF"/>
          </a:solidFill>
          <a:ln w="10160">
            <a:solidFill>
              <a:srgbClr val="22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[SECURITIZADORA / VEÍCULO]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3200400" cy="548640"/>
          </a:xfrm>
          <a:prstGeom prst="rectangle">
            <a:avLst/>
          </a:prstGeom>
          <a:solidFill>
            <a:srgbClr val="FFFFFF"/>
          </a:solidFill>
          <a:ln w="10160">
            <a:solidFill>
              <a:srgbClr val="22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[INVESTIDOR]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2148840"/>
            <a:ext cx="0" cy="274320"/>
          </a:xfrm>
          <a:prstGeom prst="line">
            <a:avLst/>
          </a:prstGeom>
          <a:noFill/>
          <a:ln w="19050">
            <a:solidFill>
              <a:srgbClr val="22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2860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40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2971800"/>
            <a:ext cx="0" cy="274320"/>
          </a:xfrm>
          <a:prstGeom prst="line">
            <a:avLst/>
          </a:prstGeom>
          <a:noFill/>
          <a:ln w="19050">
            <a:solidFill>
              <a:srgbClr val="22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108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40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Destinação dos Recursos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4114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7315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Destino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Valor (R$ MM)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%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[CAPEX / Aquisição]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[XX,X]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[Custos de emissão]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[X,X]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[Capital de giro / Reserva]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[X,X]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Indicadores Financeiros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840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Indicador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[Ano-2]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[Ano-1]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[Ano]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Receita Líquida (R$ MM)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EBITDA (R$ MM)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Margem EBITDA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Dívida Líquida (R$ MM)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Dívida Líq. / EBITDA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[X,Xx]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[X,Xx]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[X,Xx]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DSCR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[X,Xx]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[X,Xx]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[X,Xx]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LTV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[XX%]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3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Patrimônio Líquido (R$ MM)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[XX]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</a:t>
            </a:r>
            <a:pPr indent="0" marL="0">
              <a:buNone/>
            </a:pPr>
            <a:r>
              <a:rPr lang="en-US" sz="12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8B91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Março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angle">
            <a:avLst/>
          </a:prstGeom>
          <a:solidFill>
            <a:srgbClr val="2230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ZYN CAPITAL ©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Garantias &amp; Soundness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931920" cy="868680"/>
          </a:xfrm>
          <a:prstGeom prst="rectangle">
            <a:avLst/>
          </a:prstGeom>
          <a:solidFill>
            <a:srgbClr val="F4F5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54864" cy="86868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307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Alienação Fiduciária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51560" y="15819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[Descrição do imóvel/bem, matrícula, localização, valor de avaliação]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63440" y="1234440"/>
            <a:ext cx="3931920" cy="868680"/>
          </a:xfrm>
          <a:prstGeom prst="rectangle">
            <a:avLst/>
          </a:prstGeom>
          <a:solidFill>
            <a:srgbClr val="F4F5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234440"/>
            <a:ext cx="54864" cy="86868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1307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Cessão Fiduciária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257800" y="15819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[Recebíveis cedidos, fluxo, prazo, valor estimado do lastro]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57200" y="2240280"/>
            <a:ext cx="3931920" cy="868680"/>
          </a:xfrm>
          <a:prstGeom prst="rectangle">
            <a:avLst/>
          </a:prstGeom>
          <a:solidFill>
            <a:srgbClr val="F4F5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2240280"/>
            <a:ext cx="54864" cy="86868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 / Fiança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51560" y="25877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[Avalistas PF/PJ, patrimônio declarado, vínculos com o tomador]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663440" y="2240280"/>
            <a:ext cx="3931920" cy="868680"/>
          </a:xfrm>
          <a:prstGeom prst="rectangle">
            <a:avLst/>
          </a:prstGeom>
          <a:solidFill>
            <a:srgbClr val="F4F5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2240280"/>
            <a:ext cx="54864" cy="86868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774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780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Fundo de Reserva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257800" y="25877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[X] parcelas equivalentes — constituição [pré/pós] emissão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57200" y="3246120"/>
            <a:ext cx="3931920" cy="868680"/>
          </a:xfrm>
          <a:prstGeom prst="rectangle">
            <a:avLst/>
          </a:prstGeom>
          <a:solidFill>
            <a:srgbClr val="F4F5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3246120"/>
            <a:ext cx="54864" cy="86868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8328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51560" y="3319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Razão de Garantia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051560" y="35935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do colateral / Volume da operação = [X,Xx]x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4663440" y="3246120"/>
            <a:ext cx="3931920" cy="868680"/>
          </a:xfrm>
          <a:prstGeom prst="rectangle">
            <a:avLst/>
          </a:prstGeom>
          <a:solidFill>
            <a:srgbClr val="F4F5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663440" y="3246120"/>
            <a:ext cx="54864" cy="868680"/>
          </a:xfrm>
          <a:prstGeom prst="rectangle">
            <a:avLst/>
          </a:prstGeom>
          <a:solidFill>
            <a:srgbClr val="22304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8328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57800" y="3319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 de Soundness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257800" y="35935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[Resumo da tese de crédito: por que os riscos estão mitigados. 2-3 linhas.]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457200" y="4206240"/>
            <a:ext cx="8229600" cy="411480"/>
          </a:xfrm>
          <a:prstGeom prst="rectangle">
            <a:avLst/>
          </a:prstGeom>
          <a:solidFill>
            <a:srgbClr val="F4F5F6"/>
          </a:solidFill>
          <a:ln/>
        </p:spPr>
      </p:sp>
      <p:sp>
        <p:nvSpPr>
          <p:cNvPr id="40" name="Text 32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8B91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DISCLAIMER: Este material é estritamente confidencial e destinado exclusivamente ao destinatário indicado. As informações apresentadas são de caráter indicativo e não constituem oferta, recomendação ou compromisso de qualquer natureza. A ZYN Capital não se responsabiliza por decisões tomadas com base neste documento sem a devida formalização contratual.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Teaser — Template Padrão ZYN Capital</dc:title>
  <dc:subject>PptxGenJS Presentation</dc:subject>
  <dc:creator>ZYN Capital</dc:creator>
  <cp:lastModifiedBy>ZYN Capital</cp:lastModifiedBy>
  <cp:revision>1</cp:revision>
  <dcterms:created xsi:type="dcterms:W3CDTF">2026-03-27T14:31:51Z</dcterms:created>
  <dcterms:modified xsi:type="dcterms:W3CDTF">2026-03-27T14:31:51Z</dcterms:modified>
</cp:coreProperties>
</file>