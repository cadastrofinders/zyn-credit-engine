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514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1F2C3C"/>
                </a:solidFill>
                <a:latin typeface="Calibri"/>
              </a:rPr>
              <a:t>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ZYN  CAPITAL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365760"/>
            <a:ext cx="1828800" cy="32004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39243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AB308"/>
                </a:solidFill>
                <a:latin typeface="Calibri"/>
              </a:rPr>
              <a:t>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Calibri"/>
              </a:rPr>
              <a:t>CPR / CRA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Grupo Roca Agronegocios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197"/>
                </a:solidFill>
                <a:latin typeface="Calibri"/>
              </a:rPr>
              <a:t>Agronegocio  |  Mato Grosso (MT)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76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2651760" cy="11430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R$ 50,0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197"/>
                </a:solidFill>
                <a:latin typeface="Calibri"/>
              </a:rPr>
              <a:t>Montante Principal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383280"/>
            <a:ext cx="2651760" cy="11430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4747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REMUNERACAO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CDI + 5,00% a.a.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206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197"/>
                </a:solidFill>
                <a:latin typeface="Calibri"/>
              </a:rPr>
              <a:t>Taxa Indicativa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383280"/>
            <a:ext cx="2651760" cy="11430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4747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PRAZO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60 Meses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206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197"/>
                </a:solidFill>
                <a:latin typeface="Calibri"/>
              </a:rPr>
              <a:t>Prazo Total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383280"/>
            <a:ext cx="2651760" cy="11430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34747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DSCR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2,34x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206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197"/>
                </a:solidFill>
                <a:latin typeface="Calibri"/>
              </a:rPr>
              <a:t>Cobertura do Servico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54880"/>
            <a:ext cx="1127760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00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9197"/>
                </a:solidFill>
                <a:latin typeface="Calibri"/>
              </a:rPr>
              <a:t>RESUMO EXECUTIVO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1D5DB"/>
                </a:solidFill>
                <a:latin typeface="Calibri"/>
              </a:rPr>
              <a:t>Estrutura de credito via CPR/CRA com garantia real sobre 3 fazendas.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B9197"/>
                </a:solidFill>
                <a:latin typeface="Calibri"/>
              </a:rPr>
              <a:t>ZYN CAPITAL  (C)  2026  |  Confidencial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0" y="65471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B9197"/>
                </a:solidFill>
                <a:latin typeface="Calibri"/>
              </a:rPr>
              <a:t>CNPJ: 12.345.678/0001-90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2000" cy="2743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ZYN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RESUMO EXECUTIVO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0" y="228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197"/>
                </a:solidFill>
                <a:latin typeface="Calibri"/>
              </a:rPr>
              <a:t>Marco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197"/>
                </a:solidFill>
                <a:latin typeface="Calibri"/>
              </a:rPr>
              <a:t>ZYN Capital  |  CONFIDENCIAL  |  Marco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0" y="6592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197"/>
                </a:solidFill>
                <a:latin typeface="Calibri"/>
              </a:rPr>
              <a:t>2 /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914400"/>
            <a:ext cx="5486400" cy="45720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51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TERMOS DA OPERACAO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371600"/>
            <a:ext cx="2743200" cy="2743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B9197"/>
                </a:solidFill>
                <a:latin typeface="Calibri"/>
              </a:rPr>
              <a:t>Tomador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Grupo Roca Agronegocios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B9197"/>
                </a:solidFill>
                <a:latin typeface="Calibri"/>
              </a:rPr>
              <a:t>CNPJ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12.345.678/0001-90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B9197"/>
                </a:solidFill>
                <a:latin typeface="Calibri"/>
              </a:rPr>
              <a:t>Instrumento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148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CPR / CRA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B9197"/>
                </a:solidFill>
                <a:latin typeface="Calibri"/>
              </a:rPr>
              <a:t>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R$ 50,0 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B9197"/>
                </a:solidFill>
                <a:latin typeface="Calibri"/>
              </a:rPr>
              <a:t>Remuneracao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CDI + 5,00% a.a.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B9197"/>
                </a:solidFill>
                <a:latin typeface="Calibri"/>
              </a:rPr>
              <a:t>Prazo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60 meses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B9197"/>
                </a:solidFill>
                <a:latin typeface="Calibri"/>
              </a:rPr>
              <a:t>Amortizacao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SAC Semestral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B9197"/>
                </a:solidFill>
                <a:latin typeface="Calibri"/>
              </a:rPr>
              <a:t>Carencia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749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6 meses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B9197"/>
                </a:solidFill>
                <a:latin typeface="Calibri"/>
              </a:rPr>
              <a:t>Garantias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Alienacao fiduciaria de imoveis rurais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B9197"/>
                </a:solidFill>
                <a:latin typeface="Calibri"/>
              </a:rPr>
              <a:t>Finalidade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Capital de giro e expansao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B9197"/>
                </a:solidFill>
                <a:latin typeface="Calibri"/>
              </a:rPr>
              <a:t>Perfil Investidor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Qualificado (CVM 30)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914400"/>
            <a:ext cx="5669280" cy="45720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INDICADORES-CHAVE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371600"/>
            <a:ext cx="2743200" cy="2743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1508760"/>
            <a:ext cx="24688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56362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CA3AF"/>
                </a:solidFill>
                <a:latin typeface="Calibri"/>
              </a:rPr>
              <a:t>RECEITA LIQUIDA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R$ 149,4 MM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1508760"/>
            <a:ext cx="24688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156362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CA3AF"/>
                </a:solidFill>
                <a:latin typeface="Calibri"/>
              </a:rPr>
              <a:t>EBITDA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R$ 34,8 MM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2240280"/>
            <a:ext cx="24688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29514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CA3AF"/>
                </a:solidFill>
                <a:latin typeface="Calibri"/>
              </a:rPr>
              <a:t>MARGEM EBITDA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23,6%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20" y="2240280"/>
            <a:ext cx="24688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229514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CA3AF"/>
                </a:solidFill>
                <a:latin typeface="Calibri"/>
              </a:rPr>
              <a:t>DSCR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2,34x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2971800"/>
            <a:ext cx="24688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02666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CA3AF"/>
                </a:solidFill>
                <a:latin typeface="Calibri"/>
              </a:rPr>
              <a:t>LTV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42,9%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20" y="2971800"/>
            <a:ext cx="24688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60" y="302666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CA3AF"/>
                </a:solidFill>
                <a:latin typeface="Calibri"/>
              </a:rPr>
              <a:t>RATING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4F"/>
                </a:solidFill>
                <a:latin typeface="Calibri"/>
              </a:rPr>
              <a:t>AA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9360" y="3794760"/>
            <a:ext cx="5303520" cy="54864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384962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PARECER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40690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Aprovado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2000" cy="2743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ZYN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PERFIL DO TOMADOR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0" y="228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197"/>
                </a:solidFill>
                <a:latin typeface="Calibri"/>
              </a:rPr>
              <a:t>Marco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197"/>
                </a:solidFill>
                <a:latin typeface="Calibri"/>
              </a:rPr>
              <a:t>ZYN Capital  |  CONFIDENCIAL  |  Marco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0" y="6592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197"/>
                </a:solidFill>
                <a:latin typeface="Calibri"/>
              </a:rPr>
              <a:t>3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91440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Grupo Roca Agronegocios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197"/>
                </a:solidFill>
                <a:latin typeface="Calibri"/>
              </a:rPr>
              <a:t>Grupo consolidado em MT com +20 anos.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28800"/>
            <a:ext cx="112776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1920240"/>
            <a:ext cx="26517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0116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RECEITA BRUTA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R$ 180,0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060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59669"/>
                </a:solidFill>
                <a:latin typeface="Calibri"/>
              </a:rPr>
              <a:t>+86,7% vs anterior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1920240"/>
            <a:ext cx="26517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20116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EBITDA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R$ 34,8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6060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59669"/>
                </a:solidFill>
                <a:latin typeface="Calibri"/>
              </a:rPr>
              <a:t>Margem 23,6%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920240"/>
            <a:ext cx="26517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0116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LUCRO BRUTO/LIQUIDO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R$ 42,0 MM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1920240"/>
            <a:ext cx="26517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20116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PATRIMONIO LIQUIDO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R$ 632,2 MM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017520"/>
            <a:ext cx="5486400" cy="27432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197"/>
                </a:solidFill>
                <a:latin typeface="Calibri"/>
              </a:rPr>
              <a:t>TOMADOR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29000"/>
            <a:ext cx="1828800" cy="1828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2044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Grupo / Razao Social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35204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Grupo Roca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947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CNPJ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3794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12.345.678/0001-90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069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Atividade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4069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Agronegocio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34340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Localizacao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4343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Mato Grosso (MT)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61772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Regime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46177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PJ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017520"/>
            <a:ext cx="5669280" cy="27432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154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197"/>
                </a:solidFill>
                <a:latin typeface="Calibri"/>
              </a:rPr>
              <a:t>DESTAQUES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429000"/>
            <a:ext cx="1828800" cy="1828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520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1D5DB"/>
                </a:solidFill>
                <a:latin typeface="Calibri"/>
              </a:rPr>
              <a:t>  +20 anos de atuacao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840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1D5DB"/>
                </a:solidFill>
                <a:latin typeface="Calibri"/>
              </a:rPr>
              <a:t>  15.500 hectares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160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1D5DB"/>
                </a:solidFill>
                <a:latin typeface="Calibri"/>
              </a:rPr>
              <a:t>  Receita R$ 149,4 MM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2000" cy="2743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ZYN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INDICADORES FINANCEIROS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0" y="228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197"/>
                </a:solidFill>
                <a:latin typeface="Calibri"/>
              </a:rPr>
              <a:t>Marco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197"/>
                </a:solidFill>
                <a:latin typeface="Calibri"/>
              </a:rPr>
              <a:t>ZYN Capital  |  CONFIDENCIAL  |  Marco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0" y="6592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197"/>
                </a:solidFill>
                <a:latin typeface="Calibri"/>
              </a:rPr>
              <a:t>4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91440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Desempenho &amp; Solidez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28016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197"/>
                </a:solidFill>
                <a:latin typeface="Calibri"/>
              </a:rPr>
              <a:t>Indicadores financeiros consolidados do ultimo exercicio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112776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1645920"/>
            <a:ext cx="35661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7373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RECEITA LIQUIDA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R$ 149,4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317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197"/>
                </a:solidFill>
                <a:latin typeface="Calibri"/>
              </a:rPr>
              <a:t>Ultimo Exercicio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1645920"/>
            <a:ext cx="35661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17373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EBITDA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R$ 34,8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3317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197"/>
                </a:solidFill>
                <a:latin typeface="Calibri"/>
              </a:rPr>
              <a:t>Margem: 23,6%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645920"/>
            <a:ext cx="35661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7373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LUCRO LIQUIDO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R$ 18,5 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3317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197"/>
                </a:solidFill>
                <a:latin typeface="Calibri"/>
              </a:rPr>
              <a:t>Margem: 12,4%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697480"/>
            <a:ext cx="35661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7889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DSCR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2,34x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3832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197"/>
                </a:solidFill>
                <a:latin typeface="Calibri"/>
              </a:rPr>
              <a:t>Cobertura do Servico da Divida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2697480"/>
            <a:ext cx="35661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27889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DIV. LIQ./EBITDA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3,56x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33832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197"/>
                </a:solidFill>
                <a:latin typeface="Calibri"/>
              </a:rPr>
              <a:t>Alavancagem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2697480"/>
            <a:ext cx="35661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27889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PATRIMONIO LIQUIDO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R$ 632,2 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3832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197"/>
                </a:solidFill>
                <a:latin typeface="Calibri"/>
              </a:rPr>
              <a:t>Base de Capital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3931920"/>
            <a:ext cx="5486400" cy="219456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INDICADORES DE CAPITAL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343400"/>
            <a:ext cx="2286000" cy="1828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434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197"/>
                </a:solidFill>
                <a:latin typeface="Calibri"/>
              </a:rPr>
              <a:t>Divida / PL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44348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0,34x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709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197"/>
                </a:solidFill>
                <a:latin typeface="Calibri"/>
              </a:rPr>
              <a:t>Liquidez Corrente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4709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1,87x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983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197"/>
                </a:solidFill>
                <a:latin typeface="Calibri"/>
              </a:rPr>
              <a:t>ROE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4983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15,7%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257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197"/>
                </a:solidFill>
                <a:latin typeface="Calibri"/>
              </a:rPr>
              <a:t>LTV Efetivo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42,9%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532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197"/>
                </a:solidFill>
                <a:latin typeface="Calibri"/>
              </a:rPr>
              <a:t>Cobertura de Juros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0" y="5532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3,26x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6480" y="3931920"/>
            <a:ext cx="5669280" cy="219456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4069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CAPACIDADE DE PAGAMENTO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4343400"/>
            <a:ext cx="2286000" cy="1828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44348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1D5DB"/>
                </a:solidFill>
                <a:latin typeface="Calibri"/>
              </a:rPr>
              <a:t>Geracao de caixa robusta com DSCR de 2,34x.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2000" cy="2743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ZYN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ESTRUTURA DA OPERACAO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0" y="228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197"/>
                </a:solidFill>
                <a:latin typeface="Calibri"/>
              </a:rPr>
              <a:t>Marco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197"/>
                </a:solidFill>
                <a:latin typeface="Calibri"/>
              </a:rPr>
              <a:t>ZYN Capital  |  CONFIDENCIAL  |  Marco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0" y="6592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197"/>
                </a:solidFill>
                <a:latin typeface="Calibri"/>
              </a:rPr>
              <a:t>5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91440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Estrutura &amp; Termos  |  CPR / CRA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12776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1463040"/>
            <a:ext cx="182880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544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CA3AF"/>
                </a:solidFill>
                <a:latin typeface="Calibri"/>
              </a:rPr>
              <a:t>MODALIDADE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CPR / CRA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1463040"/>
            <a:ext cx="182880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15544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CA3AF"/>
                </a:solidFill>
                <a:latin typeface="Calibri"/>
              </a:rPr>
              <a:t>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R$ 50,0 MM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1463040"/>
            <a:ext cx="182880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5544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CA3AF"/>
                </a:solidFill>
                <a:latin typeface="Calibri"/>
              </a:rPr>
              <a:t>TAXA ALL-IN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CDI + 5,00% a.a.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463040"/>
            <a:ext cx="182880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5544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CA3AF"/>
                </a:solidFill>
                <a:latin typeface="Calibri"/>
              </a:rPr>
              <a:t>PRAZO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60 meses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463040"/>
            <a:ext cx="182880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5544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CA3AF"/>
                </a:solidFill>
                <a:latin typeface="Calibri"/>
              </a:rPr>
              <a:t>CARENCIA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6 meses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1463040"/>
            <a:ext cx="182880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15544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CA3AF"/>
                </a:solidFill>
                <a:latin typeface="Calibri"/>
              </a:rPr>
              <a:t>AMORTIZACAO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SAC Semestral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2651760"/>
            <a:ext cx="5486400" cy="3200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788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USO DOS RECURSOS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063240"/>
            <a:ext cx="2286000" cy="1828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15468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1D5DB"/>
                </a:solidFill>
                <a:latin typeface="Calibri"/>
              </a:rPr>
              <a:t>Capital de giro e expansao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2651760"/>
            <a:ext cx="5669280" cy="3200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788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DADOS COMPLEMENTARES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063240"/>
            <a:ext cx="2286000" cy="1828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2000" cy="2743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ZYN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GARANTIAS &amp; COLATERAL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0" y="228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197"/>
                </a:solidFill>
                <a:latin typeface="Calibri"/>
              </a:rPr>
              <a:t>Marco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197"/>
                </a:solidFill>
                <a:latin typeface="Calibri"/>
              </a:rPr>
              <a:t>ZYN Capital  |  CONFIDENCIAL  |  Marco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0" y="6592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197"/>
                </a:solidFill>
                <a:latin typeface="Calibri"/>
              </a:rPr>
              <a:t>6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91440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Garantias &amp; Solidez Patrimonial  |  Cobertura 2,33x  |  LTV 42,9%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12776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1463040"/>
            <a:ext cx="2727960" cy="73152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17904"/>
            <a:ext cx="2545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CA3AF"/>
                </a:solidFill>
                <a:latin typeface="Calibri"/>
              </a:rPr>
              <a:t>VM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737360"/>
            <a:ext cx="2545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R$ 92,4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2545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B9197"/>
                </a:solidFill>
                <a:latin typeface="Calibri"/>
              </a:rPr>
              <a:t>Valor de Mercado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85160" y="1463040"/>
            <a:ext cx="2727960" cy="73152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6600" y="1517904"/>
            <a:ext cx="2545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CA3AF"/>
                </a:solidFill>
                <a:latin typeface="Calibri"/>
              </a:rPr>
              <a:t>VLF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6600" y="1737360"/>
            <a:ext cx="2545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R$ 72,9 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6600" y="2011680"/>
            <a:ext cx="2545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B9197"/>
                </a:solidFill>
                <a:latin typeface="Calibri"/>
              </a:rPr>
              <a:t>Liquidacao Forcada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04560" y="1463040"/>
            <a:ext cx="2727960" cy="73152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0" y="1517904"/>
            <a:ext cx="2545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CA3AF"/>
                </a:solidFill>
                <a:latin typeface="Calibri"/>
              </a:rPr>
              <a:t>LTV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737360"/>
            <a:ext cx="2545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42,9%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0" y="2011680"/>
            <a:ext cx="2545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B9197"/>
                </a:solidFill>
                <a:latin typeface="Calibri"/>
              </a:rPr>
              <a:t>Loan-to-Value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1463040"/>
            <a:ext cx="2727960" cy="73152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1517904"/>
            <a:ext cx="2545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CA3AF"/>
                </a:solidFill>
                <a:latin typeface="Calibri"/>
              </a:rPr>
              <a:t>COBERTURA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737360"/>
            <a:ext cx="2545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2,33x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011680"/>
            <a:ext cx="2545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B9197"/>
                </a:solidFill>
                <a:latin typeface="Calibri"/>
              </a:rPr>
              <a:t>VM / Operacao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286000"/>
            <a:ext cx="11277600" cy="36576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423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DETALHAMENTO DAS GARANTIAS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697480"/>
            <a:ext cx="2743200" cy="1828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2788920"/>
            <a:ext cx="10515600" cy="2743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8254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Garantia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28254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8254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VM (R$)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8254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VLF (R$)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28254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063240"/>
            <a:ext cx="10515600" cy="228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090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Fazenda Belvedere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30906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1D5DB"/>
                </a:solidFill>
                <a:latin typeface="Calibri"/>
              </a:rPr>
              <a:t>450 ha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090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1D5DB"/>
                </a:solidFill>
                <a:latin typeface="Calibri"/>
              </a:rPr>
              <a:t>R$ 33,0 MM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3090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1D5DB"/>
                </a:solidFill>
                <a:latin typeface="Calibri"/>
              </a:rPr>
              <a:t>R$ 21,4 MM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30906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59669"/>
                </a:solidFill>
                <a:latin typeface="Calibri"/>
              </a:rPr>
              <a:t>Principal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291840"/>
            <a:ext cx="10515600" cy="2286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33192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Fazenda Sao Paulo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60" y="33192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1D5DB"/>
                </a:solidFill>
                <a:latin typeface="Calibri"/>
              </a:rPr>
              <a:t>878 ha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33192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1D5DB"/>
                </a:solidFill>
                <a:latin typeface="Calibri"/>
              </a:rPr>
              <a:t>R$ 38,9 MM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33192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1D5DB"/>
                </a:solidFill>
                <a:latin typeface="Calibri"/>
              </a:rPr>
              <a:t>R$ 38,2 MM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360" y="33192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1D5DB"/>
                </a:solidFill>
                <a:latin typeface="Calibri"/>
              </a:rPr>
              <a:t>Complementar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3520440"/>
            <a:ext cx="10515600" cy="2743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355701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60" y="35570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R$ 92,4 MM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35570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R$ 72,9 MM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2000" cy="2743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ZYN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RISCOS &amp; MITIGANTES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0" y="228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197"/>
                </a:solidFill>
                <a:latin typeface="Calibri"/>
              </a:rPr>
              <a:t>Marco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197"/>
                </a:solidFill>
                <a:latin typeface="Calibri"/>
              </a:rPr>
              <a:t>ZYN Capital  |  CONFIDENCIAL  |  Marco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0" y="6592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197"/>
                </a:solidFill>
                <a:latin typeface="Calibri"/>
              </a:rPr>
              <a:t>7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91440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Analise de Riscos &amp; Mitigantes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12776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1463040"/>
            <a:ext cx="11277600" cy="45720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00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MATRIZ DE RISCOS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874520"/>
            <a:ext cx="2743200" cy="1828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10515600" cy="3200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208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Risco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2082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Mitigante ZYN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286000"/>
            <a:ext cx="10515600" cy="3657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34086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Queda de preco commodities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340864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  <a:latin typeface="Calibri"/>
              </a:rPr>
              <a:t>Diversificacao + hedge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51760"/>
            <a:ext cx="10515600" cy="3657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70662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Eventos climaticos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706624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  <a:latin typeface="Calibri"/>
              </a:rPr>
              <a:t>Seguro agricola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017520"/>
            <a:ext cx="10515600" cy="3657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0723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Concentracao patrimonial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072384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  <a:latin typeface="Calibri"/>
              </a:rPr>
              <a:t>3 fazendas, LTV 42,9%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2000" cy="2743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ZYN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PARECER &amp; 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0" y="228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197"/>
                </a:solidFill>
                <a:latin typeface="Calibri"/>
              </a:rPr>
              <a:t>Marco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197"/>
                </a:solidFill>
                <a:latin typeface="Calibri"/>
              </a:rPr>
              <a:t>ZYN Capital  |  CONFIDENCIAL  |  Marco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0" y="6592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197"/>
                </a:solidFill>
                <a:latin typeface="Calibri"/>
              </a:rPr>
              <a:t>8 /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914400"/>
            <a:ext cx="11277600" cy="13716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51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RATING 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2E7D4F"/>
                </a:solidFill>
                <a:latin typeface="Calibri"/>
              </a:rPr>
              <a:t>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0515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PARECER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Aprovado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1D5DB"/>
                </a:solidFill>
                <a:latin typeface="Calibri"/>
              </a:rPr>
              <a:t>Grupo solido.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468880"/>
            <a:ext cx="26517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5603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RATING 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4F"/>
                </a:solidFill>
                <a:latin typeface="Calibri"/>
              </a:rPr>
              <a:t>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546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197"/>
                </a:solidFill>
                <a:latin typeface="Calibri"/>
              </a:rPr>
              <a:t>Aprovado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2468880"/>
            <a:ext cx="26517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25603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DSCR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2,34x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1546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197"/>
                </a:solidFill>
                <a:latin typeface="Calibri"/>
              </a:rPr>
              <a:t>Cobertura do Servico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2468880"/>
            <a:ext cx="26517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5603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LTV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42,9%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1546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197"/>
                </a:solidFill>
                <a:latin typeface="Calibri"/>
              </a:rPr>
              <a:t>Loan to Value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2468880"/>
            <a:ext cx="2651760" cy="9144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25603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FLAGS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59669"/>
                </a:solidFill>
                <a:latin typeface="Calibri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1546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197"/>
                </a:solidFill>
                <a:latin typeface="Calibri"/>
              </a:rPr>
              <a:t>Pontos de Atencao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566160"/>
            <a:ext cx="11277600" cy="274320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RATINGS POR SECAO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977640"/>
            <a:ext cx="2743200" cy="1828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069080"/>
            <a:ext cx="4937760" cy="2286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965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Secao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0965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Rating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0965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Flags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297680"/>
            <a:ext cx="4937760" cy="228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32511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Tomador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43251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N/A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3251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Calibri"/>
              </a:rPr>
              <a:t>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526280"/>
            <a:ext cx="4937760" cy="2286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55371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Patrimonio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45537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N/A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45537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Calibri"/>
              </a:rPr>
              <a:t>OK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754880"/>
            <a:ext cx="4937760" cy="228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78231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Producao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47823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N/A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7823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Calibri"/>
              </a:rPr>
              <a:t>OK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983480"/>
            <a:ext cx="4937760" cy="2286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01091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Capital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50109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N/A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50109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Calibri"/>
              </a:rPr>
              <a:t>OK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212080"/>
            <a:ext cx="4937760" cy="228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23951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Operacao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52395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N/A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0" y="52395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Calibri"/>
              </a:rPr>
              <a:t>OK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0" y="4069080"/>
            <a:ext cx="4937760" cy="2286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0720" y="40965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Secao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40965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Rating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40965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Flags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0" y="4297680"/>
            <a:ext cx="4937760" cy="228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0" y="432511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Pagamento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43251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N/A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43251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Calibri"/>
              </a:rPr>
              <a:t>OK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0" y="4526280"/>
            <a:ext cx="4937760" cy="2286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0" y="455371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Onus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45537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N/A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84080" y="45537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Calibri"/>
              </a:rPr>
              <a:t>OK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0" y="4754880"/>
            <a:ext cx="4937760" cy="228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60720" y="478231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Riscos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2480" y="47823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N/A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84080" y="47823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Calibri"/>
              </a:rPr>
              <a:t>OK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0" y="4983480"/>
            <a:ext cx="4937760" cy="2286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60720" y="501091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Covenants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50109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N/A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84080" y="50109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Calibri"/>
              </a:rPr>
              <a:t>OK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669280" y="5212080"/>
            <a:ext cx="4937760" cy="228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760720" y="523951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Cronograma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0" y="52395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197"/>
                </a:solidFill>
                <a:latin typeface="Calibri"/>
              </a:rPr>
              <a:t>N/A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84080" y="52395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Calibri"/>
              </a:rPr>
              <a:t>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9282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197"/>
                </a:solidFill>
                <a:latin typeface="Calibri"/>
              </a:rPr>
              <a:t>ZYN Capital  |  CONFIDENCIAL  |  Marco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592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197"/>
                </a:solidFill>
                <a:latin typeface="Calibri"/>
              </a:rPr>
              <a:t>9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548640"/>
            <a:ext cx="1219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ZYN  CAPITAL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371600"/>
            <a:ext cx="1219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B9197"/>
                </a:solidFill>
                <a:latin typeface="Calibri"/>
              </a:rPr>
              <a:t>PROXIMOS PASSOS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620" y="1828800"/>
            <a:ext cx="2560320" cy="82296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106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7D4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06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Envio do Memorando Executivo completo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7100" y="1828800"/>
            <a:ext cx="2560320" cy="82296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854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7D4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854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Call de due diligence com equipe ZYN Capital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580" y="1828800"/>
            <a:ext cx="2560320" cy="82296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602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7D4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602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Assinatura de NDA e acesso ao data room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2060" y="1828800"/>
            <a:ext cx="2560320" cy="82296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350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7D4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alibri"/>
              </a:rPr>
              <a:t>Formalizacao da proposta de investimento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017520"/>
            <a:ext cx="67056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3200400"/>
            <a:ext cx="1219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B9197"/>
                </a:solidFill>
                <a:latin typeface="Calibri"/>
              </a:rPr>
              <a:t>PARA MAIORES INFORMACOES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3566160"/>
            <a:ext cx="1219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Danilo Salasar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3931920"/>
            <a:ext cx="1219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197"/>
                </a:solidFill>
                <a:latin typeface="Calibri"/>
              </a:rPr>
              <a:t>Socio | Credito Estruturado &amp; M&amp;A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0" y="4389120"/>
            <a:ext cx="4572000" cy="548640"/>
          </a:xfrm>
          <a:prstGeom prst="round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0" y="4480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danilo@zyncapital.com.br  |  65 9 9987-8781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0" y="47091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197"/>
                </a:solidFill>
                <a:latin typeface="Calibri"/>
              </a:rPr>
              <a:t>Sao Paulo — SP  |  zyncapital.com.br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03520"/>
            <a:ext cx="1109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4748B"/>
                </a:solidFill>
                <a:latin typeface="Calibri"/>
              </a:rPr>
              <a:t>AVISO LEGAL: Este material e de uso exclusivo do destinatario e nao constitui oferta publica de valores mobiliarios nem solicitacao de investimento. As informacoes foram fornecidas pela Companhia e por fontes de mercado. A ZYN Capital nao garante a exatidao ou completude dos dados. Investimentos envolvem riscos, incluindo risco de credito, liquidez, mercado e operacional. Rentabilidade passada nao e garantia de resultados futuros.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4710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B9197"/>
                </a:solidFill>
                <a:latin typeface="Calibri"/>
              </a:rPr>
              <a:t>ZYN CAPITAL  (C)  2026  |  Confidencial  |  Credito Estruturado &amp; M&amp;A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